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39F4D1-7DC4-4B75-9498-D7940FFBD1E4}" v="27" dt="2025-12-03T06:19:47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i ." userId="de30afbb9be0ac2f" providerId="LiveId" clId="{3DA55A89-BC9A-49CD-ACB6-1E117B35CED8}"/>
    <pc:docChg chg="undo custSel addSld delSld modSld sldOrd modMainMaster">
      <pc:chgData name="Akshii ." userId="de30afbb9be0ac2f" providerId="LiveId" clId="{3DA55A89-BC9A-49CD-ACB6-1E117B35CED8}" dt="2025-12-03T06:19:47.644" v="63" actId="1076"/>
      <pc:docMkLst>
        <pc:docMk/>
      </pc:docMkLst>
      <pc:sldChg chg="addSp delSp modSp mod">
        <pc:chgData name="Akshii ." userId="de30afbb9be0ac2f" providerId="LiveId" clId="{3DA55A89-BC9A-49CD-ACB6-1E117B35CED8}" dt="2025-12-03T06:19:47.644" v="63" actId="1076"/>
        <pc:sldMkLst>
          <pc:docMk/>
          <pc:sldMk cId="1480780722" sldId="263"/>
        </pc:sldMkLst>
        <pc:graphicFrameChg chg="del mod modGraphic">
          <ac:chgData name="Akshii ." userId="de30afbb9be0ac2f" providerId="LiveId" clId="{3DA55A89-BC9A-49CD-ACB6-1E117B35CED8}" dt="2025-12-03T06:19:06.596" v="56" actId="478"/>
          <ac:graphicFrameMkLst>
            <pc:docMk/>
            <pc:sldMk cId="1480780722" sldId="263"/>
            <ac:graphicFrameMk id="5" creationId="{CD2287F5-64F8-A062-F949-EC84E3BD597C}"/>
          </ac:graphicFrameMkLst>
        </pc:graphicFrameChg>
        <pc:picChg chg="add mod">
          <ac:chgData name="Akshii ." userId="de30afbb9be0ac2f" providerId="LiveId" clId="{3DA55A89-BC9A-49CD-ACB6-1E117B35CED8}" dt="2025-12-03T06:19:47.644" v="63" actId="1076"/>
          <ac:picMkLst>
            <pc:docMk/>
            <pc:sldMk cId="1480780722" sldId="263"/>
            <ac:picMk id="1026" creationId="{9001CA5F-2345-DA50-4D35-48705DA86BE0}"/>
          </ac:picMkLst>
        </pc:picChg>
      </pc:sldChg>
      <pc:sldChg chg="modSp mod setBg">
        <pc:chgData name="Akshii ." userId="de30afbb9be0ac2f" providerId="LiveId" clId="{3DA55A89-BC9A-49CD-ACB6-1E117B35CED8}" dt="2025-12-01T08:50:57.937" v="52" actId="123"/>
        <pc:sldMkLst>
          <pc:docMk/>
          <pc:sldMk cId="823658963" sldId="264"/>
        </pc:sldMkLst>
        <pc:spChg chg="mod">
          <ac:chgData name="Akshii ." userId="de30afbb9be0ac2f" providerId="LiveId" clId="{3DA55A89-BC9A-49CD-ACB6-1E117B35CED8}" dt="2025-12-01T08:50:57.937" v="52" actId="123"/>
          <ac:spMkLst>
            <pc:docMk/>
            <pc:sldMk cId="823658963" sldId="264"/>
            <ac:spMk id="3" creationId="{BC70D182-8E12-DA5D-DA08-07B57F23EF72}"/>
          </ac:spMkLst>
        </pc:spChg>
      </pc:sldChg>
      <pc:sldChg chg="modSp add mod ord setBg">
        <pc:chgData name="Akshii ." userId="de30afbb9be0ac2f" providerId="LiveId" clId="{3DA55A89-BC9A-49CD-ACB6-1E117B35CED8}" dt="2025-12-01T08:49:53.936" v="42" actId="123"/>
        <pc:sldMkLst>
          <pc:docMk/>
          <pc:sldMk cId="2325130349" sldId="265"/>
        </pc:sldMkLst>
        <pc:spChg chg="mod">
          <ac:chgData name="Akshii ." userId="de30afbb9be0ac2f" providerId="LiveId" clId="{3DA55A89-BC9A-49CD-ACB6-1E117B35CED8}" dt="2025-12-01T08:49:53.936" v="42" actId="123"/>
          <ac:spMkLst>
            <pc:docMk/>
            <pc:sldMk cId="2325130349" sldId="265"/>
            <ac:spMk id="4" creationId="{34EF4256-C67B-85A4-4399-58A187CB3E0C}"/>
          </ac:spMkLst>
        </pc:spChg>
        <pc:spChg chg="mod">
          <ac:chgData name="Akshii ." userId="de30afbb9be0ac2f" providerId="LiveId" clId="{3DA55A89-BC9A-49CD-ACB6-1E117B35CED8}" dt="2025-12-01T08:49:49.689" v="41" actId="123"/>
          <ac:spMkLst>
            <pc:docMk/>
            <pc:sldMk cId="2325130349" sldId="265"/>
            <ac:spMk id="8" creationId="{72DD4932-E0B2-C86E-DB6B-7AEAB6036098}"/>
          </ac:spMkLst>
        </pc:spChg>
      </pc:sldChg>
      <pc:sldChg chg="modSp add mod">
        <pc:chgData name="Akshii ." userId="de30afbb9be0ac2f" providerId="LiveId" clId="{3DA55A89-BC9A-49CD-ACB6-1E117B35CED8}" dt="2025-12-01T08:50:14.305" v="44" actId="123"/>
        <pc:sldMkLst>
          <pc:docMk/>
          <pc:sldMk cId="831952427" sldId="266"/>
        </pc:sldMkLst>
        <pc:graphicFrameChg chg="modGraphic">
          <ac:chgData name="Akshii ." userId="de30afbb9be0ac2f" providerId="LiveId" clId="{3DA55A89-BC9A-49CD-ACB6-1E117B35CED8}" dt="2025-12-01T08:50:14.305" v="44" actId="123"/>
          <ac:graphicFrameMkLst>
            <pc:docMk/>
            <pc:sldMk cId="831952427" sldId="266"/>
            <ac:graphicFrameMk id="5" creationId="{0D79700E-4884-F248-9E8D-5B9B8B6B8F34}"/>
          </ac:graphicFrameMkLst>
        </pc:graphicFrameChg>
      </pc:sldChg>
      <pc:sldChg chg="modSp add mod">
        <pc:chgData name="Akshii ." userId="de30afbb9be0ac2f" providerId="LiveId" clId="{3DA55A89-BC9A-49CD-ACB6-1E117B35CED8}" dt="2025-12-01T08:49:43.777" v="38" actId="123"/>
        <pc:sldMkLst>
          <pc:docMk/>
          <pc:sldMk cId="2567120737" sldId="267"/>
        </pc:sldMkLst>
        <pc:spChg chg="mod">
          <ac:chgData name="Akshii ." userId="de30afbb9be0ac2f" providerId="LiveId" clId="{3DA55A89-BC9A-49CD-ACB6-1E117B35CED8}" dt="2025-12-01T08:49:43.777" v="38" actId="123"/>
          <ac:spMkLst>
            <pc:docMk/>
            <pc:sldMk cId="2567120737" sldId="267"/>
            <ac:spMk id="4" creationId="{AADBC19E-54A5-7F99-CC6F-312641314720}"/>
          </ac:spMkLst>
        </pc:spChg>
      </pc:sldChg>
      <pc:sldChg chg="delSp modSp add setBg delDesignElem">
        <pc:chgData name="Akshii ." userId="de30afbb9be0ac2f" providerId="LiveId" clId="{3DA55A89-BC9A-49CD-ACB6-1E117B35CED8}" dt="2025-12-01T08:52:18.613" v="55" actId="12269"/>
        <pc:sldMkLst>
          <pc:docMk/>
          <pc:sldMk cId="764013732" sldId="268"/>
        </pc:sldMkLst>
        <pc:graphicFrameChg chg="mod">
          <ac:chgData name="Akshii ." userId="de30afbb9be0ac2f" providerId="LiveId" clId="{3DA55A89-BC9A-49CD-ACB6-1E117B35CED8}" dt="2025-12-01T08:52:18.613" v="55" actId="12269"/>
          <ac:graphicFrameMkLst>
            <pc:docMk/>
            <pc:sldMk cId="764013732" sldId="268"/>
            <ac:graphicFrameMk id="5" creationId="{BE0A79E6-15EA-084A-C433-DF5C122776ED}"/>
          </ac:graphicFrameMkLst>
        </pc:graphicFrameChg>
      </pc:sldChg>
      <pc:sldMasterChg chg="setBg modSldLayout">
        <pc:chgData name="Akshii ." userId="de30afbb9be0ac2f" providerId="LiveId" clId="{3DA55A89-BC9A-49CD-ACB6-1E117B35CED8}" dt="2025-12-01T08:39:49.969" v="22"/>
        <pc:sldMasterMkLst>
          <pc:docMk/>
          <pc:sldMasterMk cId="3101913868" sldId="2147483648"/>
        </pc:sldMasterMkLst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2017924777" sldId="2147483649"/>
          </pc:sldLayoutMkLst>
        </pc:sldLayoutChg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3270193805" sldId="2147483650"/>
          </pc:sldLayoutMkLst>
        </pc:sldLayoutChg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1881891560" sldId="2147483651"/>
          </pc:sldLayoutMkLst>
        </pc:sldLayoutChg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4275179464" sldId="2147483652"/>
          </pc:sldLayoutMkLst>
        </pc:sldLayoutChg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1580016887" sldId="2147483653"/>
          </pc:sldLayoutMkLst>
        </pc:sldLayoutChg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3531748870" sldId="2147483654"/>
          </pc:sldLayoutMkLst>
        </pc:sldLayoutChg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1510472693" sldId="2147483655"/>
          </pc:sldLayoutMkLst>
        </pc:sldLayoutChg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3235671788" sldId="2147483656"/>
          </pc:sldLayoutMkLst>
        </pc:sldLayoutChg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59658625" sldId="2147483657"/>
          </pc:sldLayoutMkLst>
        </pc:sldLayoutChg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3328039290" sldId="2147483658"/>
          </pc:sldLayoutMkLst>
        </pc:sldLayoutChg>
        <pc:sldLayoutChg chg="setBg">
          <pc:chgData name="Akshii ." userId="de30afbb9be0ac2f" providerId="LiveId" clId="{3DA55A89-BC9A-49CD-ACB6-1E117B35CED8}" dt="2025-12-01T08:39:49.969" v="22"/>
          <pc:sldLayoutMkLst>
            <pc:docMk/>
            <pc:sldMasterMk cId="3101913868" sldId="2147483648"/>
            <pc:sldLayoutMk cId="3682321409" sldId="214748365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A97480-6BA8-4F58-A43C-1C8FD9E776D4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CF40CC0-D03E-45E6-B185-8040BDE72E94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Design and implement</a:t>
          </a:r>
        </a:p>
      </dgm:t>
    </dgm:pt>
    <dgm:pt modelId="{DEA74E08-B8B2-4B01-811D-840203403A65}" type="parTrans" cxnId="{A026C279-22AC-4BAA-9EE4-A51E00B9BA71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79FE6D-7568-4607-9059-342436CE45DE}" type="sibTrans" cxnId="{A026C279-22AC-4BAA-9EE4-A51E00B9BA71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B32BB9-E3C0-439D-899D-75C2914AAC30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 and implement </a:t>
          </a:r>
          <a:r>
            <a:rPr lang="en-US" sz="1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AirShield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, an IoT-based indoor air quality monitoring system for classrooms, hostels, and small indoor spaces.</a:t>
          </a:r>
        </a:p>
      </dgm:t>
    </dgm:pt>
    <dgm:pt modelId="{E1CB256F-CA13-46EA-BEBB-F82F485F9506}" type="parTrans" cxnId="{E2243088-3CF7-4EC3-9FA2-7216E31C9CE9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1D4993-2E7F-4D6B-9FF9-8A35373114B2}" type="sibTrans" cxnId="{E2243088-3CF7-4EC3-9FA2-7216E31C9CE9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2D13C2-82A5-408C-8803-D41CABDF8E20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Measure</a:t>
          </a:r>
        </a:p>
      </dgm:t>
    </dgm:pt>
    <dgm:pt modelId="{E8DD6F8E-40CD-4581-B4AC-8DD66B4D9543}" type="parTrans" cxnId="{62609E6E-FAEC-4D59-A0AC-250D4077516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26F63A-369E-4F50-9579-8BA7876122FE}" type="sibTrans" cxnId="{62609E6E-FAEC-4D59-A0AC-250D4077516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9662B2-D62B-498B-963C-2AE386B8DE17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continuously measure key parameters: CO₂, PM2.5, VOCs, temperature, and humidity.</a:t>
          </a:r>
        </a:p>
      </dgm:t>
    </dgm:pt>
    <dgm:pt modelId="{098CD770-49DC-448F-BDF6-67DA0C1BE808}" type="parTrans" cxnId="{98E3DE0C-1F92-4871-86B3-700B36FDE1FE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D8B7D8-2151-4309-9596-7901D8923803}" type="sibTrans" cxnId="{98E3DE0C-1F92-4871-86B3-700B36FDE1FE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ABEF333-5B17-4352-BB83-E34501C070C2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Provide</a:t>
          </a:r>
        </a:p>
      </dgm:t>
    </dgm:pt>
    <dgm:pt modelId="{A6A02BF7-3E95-47DD-BD77-9803C73E00BA}" type="parTrans" cxnId="{1219CF2A-583E-459A-8959-812CB52093FB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8416C5-09C9-49FA-A976-C46C3CBED8AA}" type="sibTrans" cxnId="{1219CF2A-583E-459A-8959-812CB52093FB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750BAF-3B85-45A8-BD42-979465A2024F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provide threshold-based alerts through LEDs, buzzers, and SMS/Telegram notifications when air quality is unsafe.</a:t>
          </a:r>
        </a:p>
      </dgm:t>
    </dgm:pt>
    <dgm:pt modelId="{04086457-739A-47B4-986F-3539F0C21863}" type="parTrans" cxnId="{2256B869-3230-427B-B477-A0478254EBE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5B50CA-3895-4F4E-8953-CDE2B32FF371}" type="sibTrans" cxnId="{2256B869-3230-427B-B477-A0478254EBE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99299C-A5C2-4A27-8824-55F0F0862F7F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Display</a:t>
          </a:r>
        </a:p>
      </dgm:t>
    </dgm:pt>
    <dgm:pt modelId="{66796E2D-CA8B-4831-8FA4-ED3E118D4C73}" type="parTrans" cxnId="{0BCF9A3A-0FAA-4301-8851-BF7E80F4E4F7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D46BA9-7CE1-4A40-92B8-951430BC13C1}" type="sibTrans" cxnId="{0BCF9A3A-0FAA-4301-8851-BF7E80F4E4F7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E7CB06-6FF3-4E9B-AE68-4CC3CBCE2FAB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display real-time data and historical trends on an interactive dashboard for easy monitoring.</a:t>
          </a:r>
        </a:p>
      </dgm:t>
    </dgm:pt>
    <dgm:pt modelId="{A650DA56-F45B-4125-9E1D-D73E9A52AE24}" type="parTrans" cxnId="{AC1A734B-15B3-4AF4-B169-E25A1E884870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7C2624-F7D0-47B8-8D6F-0908D7FA00F0}" type="sibTrans" cxnId="{AC1A734B-15B3-4AF4-B169-E25A1E884870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1527EE-2312-4702-BF97-3AB73A923ED3}" type="pres">
      <dgm:prSet presAssocID="{CEA97480-6BA8-4F58-A43C-1C8FD9E776D4}" presName="Name0" presStyleCnt="0">
        <dgm:presLayoutVars>
          <dgm:dir/>
          <dgm:animLvl val="lvl"/>
          <dgm:resizeHandles val="exact"/>
        </dgm:presLayoutVars>
      </dgm:prSet>
      <dgm:spPr/>
    </dgm:pt>
    <dgm:pt modelId="{12D6C118-EE3D-4584-8727-9431C0ADA47E}" type="pres">
      <dgm:prSet presAssocID="{9CF40CC0-D03E-45E6-B185-8040BDE72E94}" presName="linNode" presStyleCnt="0"/>
      <dgm:spPr/>
    </dgm:pt>
    <dgm:pt modelId="{4163FA11-8101-4552-89FA-EE99F192E05E}" type="pres">
      <dgm:prSet presAssocID="{9CF40CC0-D03E-45E6-B185-8040BDE72E94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1D9CE3EA-0FDB-47C1-8646-F1004C195C19}" type="pres">
      <dgm:prSet presAssocID="{9CF40CC0-D03E-45E6-B185-8040BDE72E94}" presName="descendantText" presStyleLbl="alignAccFollowNode1" presStyleIdx="0" presStyleCnt="4">
        <dgm:presLayoutVars>
          <dgm:bulletEnabled/>
        </dgm:presLayoutVars>
      </dgm:prSet>
      <dgm:spPr/>
    </dgm:pt>
    <dgm:pt modelId="{F04C38B6-B06F-45B5-B535-9E28D2DF4084}" type="pres">
      <dgm:prSet presAssocID="{8379FE6D-7568-4607-9059-342436CE45DE}" presName="sp" presStyleCnt="0"/>
      <dgm:spPr/>
    </dgm:pt>
    <dgm:pt modelId="{CAC774A0-3152-47B7-8516-0CCB9E3C1E4A}" type="pres">
      <dgm:prSet presAssocID="{592D13C2-82A5-408C-8803-D41CABDF8E20}" presName="linNode" presStyleCnt="0"/>
      <dgm:spPr/>
    </dgm:pt>
    <dgm:pt modelId="{AFEEC447-8143-4CBF-9628-3995BD340322}" type="pres">
      <dgm:prSet presAssocID="{592D13C2-82A5-408C-8803-D41CABDF8E20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EE918686-2F9F-4744-B407-C630AFE46284}" type="pres">
      <dgm:prSet presAssocID="{592D13C2-82A5-408C-8803-D41CABDF8E20}" presName="descendantText" presStyleLbl="alignAccFollowNode1" presStyleIdx="1" presStyleCnt="4">
        <dgm:presLayoutVars>
          <dgm:bulletEnabled/>
        </dgm:presLayoutVars>
      </dgm:prSet>
      <dgm:spPr/>
    </dgm:pt>
    <dgm:pt modelId="{922DE840-1614-421A-B4AD-268DE00CBF92}" type="pres">
      <dgm:prSet presAssocID="{E726F63A-369E-4F50-9579-8BA7876122FE}" presName="sp" presStyleCnt="0"/>
      <dgm:spPr/>
    </dgm:pt>
    <dgm:pt modelId="{3D25816C-6A2F-47C5-B7E8-BBFE4A64BD4E}" type="pres">
      <dgm:prSet presAssocID="{FABEF333-5B17-4352-BB83-E34501C070C2}" presName="linNode" presStyleCnt="0"/>
      <dgm:spPr/>
    </dgm:pt>
    <dgm:pt modelId="{121C7491-40E3-48A3-ACB6-0590BA1DA220}" type="pres">
      <dgm:prSet presAssocID="{FABEF333-5B17-4352-BB83-E34501C070C2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6D6AA219-506C-4424-BE6D-93A753957172}" type="pres">
      <dgm:prSet presAssocID="{FABEF333-5B17-4352-BB83-E34501C070C2}" presName="descendantText" presStyleLbl="alignAccFollowNode1" presStyleIdx="2" presStyleCnt="4">
        <dgm:presLayoutVars>
          <dgm:bulletEnabled/>
        </dgm:presLayoutVars>
      </dgm:prSet>
      <dgm:spPr/>
    </dgm:pt>
    <dgm:pt modelId="{0553B1C8-E00B-4888-B6FE-72804E55AAC0}" type="pres">
      <dgm:prSet presAssocID="{4B8416C5-09C9-49FA-A976-C46C3CBED8AA}" presName="sp" presStyleCnt="0"/>
      <dgm:spPr/>
    </dgm:pt>
    <dgm:pt modelId="{CFFC3EFE-CE84-4A00-8382-E213F63A89F2}" type="pres">
      <dgm:prSet presAssocID="{D699299C-A5C2-4A27-8824-55F0F0862F7F}" presName="linNode" presStyleCnt="0"/>
      <dgm:spPr/>
    </dgm:pt>
    <dgm:pt modelId="{CDEC5814-6C6F-470E-AD59-959801C1A5C0}" type="pres">
      <dgm:prSet presAssocID="{D699299C-A5C2-4A27-8824-55F0F0862F7F}" presName="parentText" presStyleLbl="alignNode1" presStyleIdx="3" presStyleCnt="4" custLinFactNeighborY="1355">
        <dgm:presLayoutVars>
          <dgm:chMax val="1"/>
          <dgm:bulletEnabled/>
        </dgm:presLayoutVars>
      </dgm:prSet>
      <dgm:spPr/>
    </dgm:pt>
    <dgm:pt modelId="{A5C9F9D8-2DAF-4F34-A120-2C99A5A11667}" type="pres">
      <dgm:prSet presAssocID="{D699299C-A5C2-4A27-8824-55F0F0862F7F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B7B95D03-297C-42D3-9901-A4B7FA3D063C}" type="presOf" srcId="{85750BAF-3B85-45A8-BD42-979465A2024F}" destId="{6D6AA219-506C-4424-BE6D-93A753957172}" srcOrd="0" destOrd="0" presId="urn:microsoft.com/office/officeart/2016/7/layout/VerticalSolidActionList"/>
    <dgm:cxn modelId="{98E3DE0C-1F92-4871-86B3-700B36FDE1FE}" srcId="{592D13C2-82A5-408C-8803-D41CABDF8E20}" destId="{659662B2-D62B-498B-963C-2AE386B8DE17}" srcOrd="0" destOrd="0" parTransId="{098CD770-49DC-448F-BDF6-67DA0C1BE808}" sibTransId="{9BD8B7D8-2151-4309-9596-7901D8923803}"/>
    <dgm:cxn modelId="{90987827-F5C8-4636-B808-2917CFD8A1AE}" type="presOf" srcId="{9CF40CC0-D03E-45E6-B185-8040BDE72E94}" destId="{4163FA11-8101-4552-89FA-EE99F192E05E}" srcOrd="0" destOrd="0" presId="urn:microsoft.com/office/officeart/2016/7/layout/VerticalSolidActionList"/>
    <dgm:cxn modelId="{1219CF2A-583E-459A-8959-812CB52093FB}" srcId="{CEA97480-6BA8-4F58-A43C-1C8FD9E776D4}" destId="{FABEF333-5B17-4352-BB83-E34501C070C2}" srcOrd="2" destOrd="0" parTransId="{A6A02BF7-3E95-47DD-BD77-9803C73E00BA}" sibTransId="{4B8416C5-09C9-49FA-A976-C46C3CBED8AA}"/>
    <dgm:cxn modelId="{D4CD3F2C-DA93-475C-AA09-6D75DB0A9C25}" type="presOf" srcId="{592D13C2-82A5-408C-8803-D41CABDF8E20}" destId="{AFEEC447-8143-4CBF-9628-3995BD340322}" srcOrd="0" destOrd="0" presId="urn:microsoft.com/office/officeart/2016/7/layout/VerticalSolidActionList"/>
    <dgm:cxn modelId="{97F19837-FE6F-4F98-8EDE-089673B31EF2}" type="presOf" srcId="{CEA97480-6BA8-4F58-A43C-1C8FD9E776D4}" destId="{4F1527EE-2312-4702-BF97-3AB73A923ED3}" srcOrd="0" destOrd="0" presId="urn:microsoft.com/office/officeart/2016/7/layout/VerticalSolidActionList"/>
    <dgm:cxn modelId="{0BCF9A3A-0FAA-4301-8851-BF7E80F4E4F7}" srcId="{CEA97480-6BA8-4F58-A43C-1C8FD9E776D4}" destId="{D699299C-A5C2-4A27-8824-55F0F0862F7F}" srcOrd="3" destOrd="0" parTransId="{66796E2D-CA8B-4831-8FA4-ED3E118D4C73}" sibTransId="{12D46BA9-7CE1-4A40-92B8-951430BC13C1}"/>
    <dgm:cxn modelId="{7A6AA73E-680D-4CEA-BE55-F9581C23A10B}" type="presOf" srcId="{659662B2-D62B-498B-963C-2AE386B8DE17}" destId="{EE918686-2F9F-4744-B407-C630AFE46284}" srcOrd="0" destOrd="0" presId="urn:microsoft.com/office/officeart/2016/7/layout/VerticalSolidActionList"/>
    <dgm:cxn modelId="{2256B869-3230-427B-B477-A0478254EBEA}" srcId="{FABEF333-5B17-4352-BB83-E34501C070C2}" destId="{85750BAF-3B85-45A8-BD42-979465A2024F}" srcOrd="0" destOrd="0" parTransId="{04086457-739A-47B4-986F-3539F0C21863}" sibTransId="{1D5B50CA-3895-4F4E-8953-CDE2B32FF371}"/>
    <dgm:cxn modelId="{AC1A734B-15B3-4AF4-B169-E25A1E884870}" srcId="{D699299C-A5C2-4A27-8824-55F0F0862F7F}" destId="{4EE7CB06-6FF3-4E9B-AE68-4CC3CBCE2FAB}" srcOrd="0" destOrd="0" parTransId="{A650DA56-F45B-4125-9E1D-D73E9A52AE24}" sibTransId="{C77C2624-F7D0-47B8-8D6F-0908D7FA00F0}"/>
    <dgm:cxn modelId="{62609E6E-FAEC-4D59-A0AC-250D4077516A}" srcId="{CEA97480-6BA8-4F58-A43C-1C8FD9E776D4}" destId="{592D13C2-82A5-408C-8803-D41CABDF8E20}" srcOrd="1" destOrd="0" parTransId="{E8DD6F8E-40CD-4581-B4AC-8DD66B4D9543}" sibTransId="{E726F63A-369E-4F50-9579-8BA7876122FE}"/>
    <dgm:cxn modelId="{A026C279-22AC-4BAA-9EE4-A51E00B9BA71}" srcId="{CEA97480-6BA8-4F58-A43C-1C8FD9E776D4}" destId="{9CF40CC0-D03E-45E6-B185-8040BDE72E94}" srcOrd="0" destOrd="0" parTransId="{DEA74E08-B8B2-4B01-811D-840203403A65}" sibTransId="{8379FE6D-7568-4607-9059-342436CE45DE}"/>
    <dgm:cxn modelId="{E2243088-3CF7-4EC3-9FA2-7216E31C9CE9}" srcId="{9CF40CC0-D03E-45E6-B185-8040BDE72E94}" destId="{B1B32BB9-E3C0-439D-899D-75C2914AAC30}" srcOrd="0" destOrd="0" parTransId="{E1CB256F-CA13-46EA-BEBB-F82F485F9506}" sibTransId="{641D4993-2E7F-4D6B-9FF9-8A35373114B2}"/>
    <dgm:cxn modelId="{C73A8399-92C3-4F36-8568-D1A2B9A155A7}" type="presOf" srcId="{B1B32BB9-E3C0-439D-899D-75C2914AAC30}" destId="{1D9CE3EA-0FDB-47C1-8646-F1004C195C19}" srcOrd="0" destOrd="0" presId="urn:microsoft.com/office/officeart/2016/7/layout/VerticalSolidActionList"/>
    <dgm:cxn modelId="{722E6CA1-3CC9-44D0-B0BB-759F4AF11C08}" type="presOf" srcId="{FABEF333-5B17-4352-BB83-E34501C070C2}" destId="{121C7491-40E3-48A3-ACB6-0590BA1DA220}" srcOrd="0" destOrd="0" presId="urn:microsoft.com/office/officeart/2016/7/layout/VerticalSolidActionList"/>
    <dgm:cxn modelId="{A26910A3-AF96-44F9-9D6A-F9757EFCDE36}" type="presOf" srcId="{D699299C-A5C2-4A27-8824-55F0F0862F7F}" destId="{CDEC5814-6C6F-470E-AD59-959801C1A5C0}" srcOrd="0" destOrd="0" presId="urn:microsoft.com/office/officeart/2016/7/layout/VerticalSolidActionList"/>
    <dgm:cxn modelId="{FAB9B7AE-C829-46C1-AB2F-7D4027373CED}" type="presOf" srcId="{4EE7CB06-6FF3-4E9B-AE68-4CC3CBCE2FAB}" destId="{A5C9F9D8-2DAF-4F34-A120-2C99A5A11667}" srcOrd="0" destOrd="0" presId="urn:microsoft.com/office/officeart/2016/7/layout/VerticalSolidActionList"/>
    <dgm:cxn modelId="{6F2F784A-72B5-4544-9144-51DD208AA2A7}" type="presParOf" srcId="{4F1527EE-2312-4702-BF97-3AB73A923ED3}" destId="{12D6C118-EE3D-4584-8727-9431C0ADA47E}" srcOrd="0" destOrd="0" presId="urn:microsoft.com/office/officeart/2016/7/layout/VerticalSolidActionList"/>
    <dgm:cxn modelId="{8B2F2A89-06B3-4BF6-80EC-97D26F7F5D10}" type="presParOf" srcId="{12D6C118-EE3D-4584-8727-9431C0ADA47E}" destId="{4163FA11-8101-4552-89FA-EE99F192E05E}" srcOrd="0" destOrd="0" presId="urn:microsoft.com/office/officeart/2016/7/layout/VerticalSolidActionList"/>
    <dgm:cxn modelId="{642B8ED6-9373-45D5-817D-3A236A114A4F}" type="presParOf" srcId="{12D6C118-EE3D-4584-8727-9431C0ADA47E}" destId="{1D9CE3EA-0FDB-47C1-8646-F1004C195C19}" srcOrd="1" destOrd="0" presId="urn:microsoft.com/office/officeart/2016/7/layout/VerticalSolidActionList"/>
    <dgm:cxn modelId="{2B8BD709-612A-4F1F-9D13-CE51EA9C6C15}" type="presParOf" srcId="{4F1527EE-2312-4702-BF97-3AB73A923ED3}" destId="{F04C38B6-B06F-45B5-B535-9E28D2DF4084}" srcOrd="1" destOrd="0" presId="urn:microsoft.com/office/officeart/2016/7/layout/VerticalSolidActionList"/>
    <dgm:cxn modelId="{8D9773BF-40DE-439D-9F6F-13845ACBBA91}" type="presParOf" srcId="{4F1527EE-2312-4702-BF97-3AB73A923ED3}" destId="{CAC774A0-3152-47B7-8516-0CCB9E3C1E4A}" srcOrd="2" destOrd="0" presId="urn:microsoft.com/office/officeart/2016/7/layout/VerticalSolidActionList"/>
    <dgm:cxn modelId="{8A97FF93-A867-4413-84C4-B9768694CFFE}" type="presParOf" srcId="{CAC774A0-3152-47B7-8516-0CCB9E3C1E4A}" destId="{AFEEC447-8143-4CBF-9628-3995BD340322}" srcOrd="0" destOrd="0" presId="urn:microsoft.com/office/officeart/2016/7/layout/VerticalSolidActionList"/>
    <dgm:cxn modelId="{8A621F14-C6DA-4278-A643-9A032AA46E96}" type="presParOf" srcId="{CAC774A0-3152-47B7-8516-0CCB9E3C1E4A}" destId="{EE918686-2F9F-4744-B407-C630AFE46284}" srcOrd="1" destOrd="0" presId="urn:microsoft.com/office/officeart/2016/7/layout/VerticalSolidActionList"/>
    <dgm:cxn modelId="{9A99E2BB-1139-46BD-A112-7B43BFB0BC48}" type="presParOf" srcId="{4F1527EE-2312-4702-BF97-3AB73A923ED3}" destId="{922DE840-1614-421A-B4AD-268DE00CBF92}" srcOrd="3" destOrd="0" presId="urn:microsoft.com/office/officeart/2016/7/layout/VerticalSolidActionList"/>
    <dgm:cxn modelId="{E86E00BC-F271-4CAC-B1E2-784A3E7F9CB6}" type="presParOf" srcId="{4F1527EE-2312-4702-BF97-3AB73A923ED3}" destId="{3D25816C-6A2F-47C5-B7E8-BBFE4A64BD4E}" srcOrd="4" destOrd="0" presId="urn:microsoft.com/office/officeart/2016/7/layout/VerticalSolidActionList"/>
    <dgm:cxn modelId="{4CB8F5E0-2DC8-45E3-86BC-D8B1663BF6D8}" type="presParOf" srcId="{3D25816C-6A2F-47C5-B7E8-BBFE4A64BD4E}" destId="{121C7491-40E3-48A3-ACB6-0590BA1DA220}" srcOrd="0" destOrd="0" presId="urn:microsoft.com/office/officeart/2016/7/layout/VerticalSolidActionList"/>
    <dgm:cxn modelId="{465066A3-E407-4727-AB29-C787CBE25FF2}" type="presParOf" srcId="{3D25816C-6A2F-47C5-B7E8-BBFE4A64BD4E}" destId="{6D6AA219-506C-4424-BE6D-93A753957172}" srcOrd="1" destOrd="0" presId="urn:microsoft.com/office/officeart/2016/7/layout/VerticalSolidActionList"/>
    <dgm:cxn modelId="{0386CAFC-B33E-492C-9DB3-85E931CCDEDE}" type="presParOf" srcId="{4F1527EE-2312-4702-BF97-3AB73A923ED3}" destId="{0553B1C8-E00B-4888-B6FE-72804E55AAC0}" srcOrd="5" destOrd="0" presId="urn:microsoft.com/office/officeart/2016/7/layout/VerticalSolidActionList"/>
    <dgm:cxn modelId="{3978F124-F408-4DD6-8B64-EAB9D6B6340B}" type="presParOf" srcId="{4F1527EE-2312-4702-BF97-3AB73A923ED3}" destId="{CFFC3EFE-CE84-4A00-8382-E213F63A89F2}" srcOrd="6" destOrd="0" presId="urn:microsoft.com/office/officeart/2016/7/layout/VerticalSolidActionList"/>
    <dgm:cxn modelId="{C640E2D1-3196-4AFB-821F-87DFDFFD0A2B}" type="presParOf" srcId="{CFFC3EFE-CE84-4A00-8382-E213F63A89F2}" destId="{CDEC5814-6C6F-470E-AD59-959801C1A5C0}" srcOrd="0" destOrd="0" presId="urn:microsoft.com/office/officeart/2016/7/layout/VerticalSolidActionList"/>
    <dgm:cxn modelId="{375F3900-8BAB-4029-81CF-9DE72F30EEA6}" type="presParOf" srcId="{CFFC3EFE-CE84-4A00-8382-E213F63A89F2}" destId="{A5C9F9D8-2DAF-4F34-A120-2C99A5A11667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CE3EA-0FDB-47C1-8646-F1004C195C19}">
      <dsp:nvSpPr>
        <dsp:cNvPr id="0" name=""/>
        <dsp:cNvSpPr/>
      </dsp:nvSpPr>
      <dsp:spPr>
        <a:xfrm>
          <a:off x="1434414" y="1869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 and implement </a:t>
          </a:r>
          <a:r>
            <a:rPr lang="en-US" sz="1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AirShield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an IoT-based indoor air quality monitoring system for classrooms, hostels, and small indoor spaces.</a:t>
          </a:r>
        </a:p>
      </dsp:txBody>
      <dsp:txXfrm>
        <a:off x="1434414" y="1869"/>
        <a:ext cx="5737660" cy="968466"/>
      </dsp:txXfrm>
    </dsp:sp>
    <dsp:sp modelId="{4163FA11-8101-4552-89FA-EE99F192E05E}">
      <dsp:nvSpPr>
        <dsp:cNvPr id="0" name=""/>
        <dsp:cNvSpPr/>
      </dsp:nvSpPr>
      <dsp:spPr>
        <a:xfrm>
          <a:off x="0" y="1869"/>
          <a:ext cx="1434415" cy="9684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 and implement</a:t>
          </a:r>
        </a:p>
      </dsp:txBody>
      <dsp:txXfrm>
        <a:off x="0" y="1869"/>
        <a:ext cx="1434415" cy="968466"/>
      </dsp:txXfrm>
    </dsp:sp>
    <dsp:sp modelId="{EE918686-2F9F-4744-B407-C630AFE46284}">
      <dsp:nvSpPr>
        <dsp:cNvPr id="0" name=""/>
        <dsp:cNvSpPr/>
      </dsp:nvSpPr>
      <dsp:spPr>
        <a:xfrm>
          <a:off x="1434415" y="1028444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continuously measure key parameters: CO₂, PM2.5, VOCs, temperature, and humidity.</a:t>
          </a:r>
        </a:p>
      </dsp:txBody>
      <dsp:txXfrm>
        <a:off x="1434415" y="1028444"/>
        <a:ext cx="5737660" cy="968466"/>
      </dsp:txXfrm>
    </dsp:sp>
    <dsp:sp modelId="{AFEEC447-8143-4CBF-9628-3995BD340322}">
      <dsp:nvSpPr>
        <dsp:cNvPr id="0" name=""/>
        <dsp:cNvSpPr/>
      </dsp:nvSpPr>
      <dsp:spPr>
        <a:xfrm>
          <a:off x="0" y="1028444"/>
          <a:ext cx="1434415" cy="968466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Measure</a:t>
          </a:r>
        </a:p>
      </dsp:txBody>
      <dsp:txXfrm>
        <a:off x="0" y="1028444"/>
        <a:ext cx="1434415" cy="968466"/>
      </dsp:txXfrm>
    </dsp:sp>
    <dsp:sp modelId="{6D6AA219-506C-4424-BE6D-93A753957172}">
      <dsp:nvSpPr>
        <dsp:cNvPr id="0" name=""/>
        <dsp:cNvSpPr/>
      </dsp:nvSpPr>
      <dsp:spPr>
        <a:xfrm>
          <a:off x="1434415" y="2055019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provide threshold-based alerts through LEDs, buzzers, and SMS/Telegram notifications when air quality is unsafe.</a:t>
          </a:r>
        </a:p>
      </dsp:txBody>
      <dsp:txXfrm>
        <a:off x="1434415" y="2055019"/>
        <a:ext cx="5737660" cy="968466"/>
      </dsp:txXfrm>
    </dsp:sp>
    <dsp:sp modelId="{121C7491-40E3-48A3-ACB6-0590BA1DA220}">
      <dsp:nvSpPr>
        <dsp:cNvPr id="0" name=""/>
        <dsp:cNvSpPr/>
      </dsp:nvSpPr>
      <dsp:spPr>
        <a:xfrm>
          <a:off x="0" y="2055019"/>
          <a:ext cx="1434415" cy="968466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</a:t>
          </a:r>
        </a:p>
      </dsp:txBody>
      <dsp:txXfrm>
        <a:off x="0" y="2055019"/>
        <a:ext cx="1434415" cy="968466"/>
      </dsp:txXfrm>
    </dsp:sp>
    <dsp:sp modelId="{A5C9F9D8-2DAF-4F34-A120-2C99A5A11667}">
      <dsp:nvSpPr>
        <dsp:cNvPr id="0" name=""/>
        <dsp:cNvSpPr/>
      </dsp:nvSpPr>
      <dsp:spPr>
        <a:xfrm>
          <a:off x="1434415" y="3081593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display real-time data and historical trends on an interactive dashboard for easy monitoring.</a:t>
          </a:r>
        </a:p>
      </dsp:txBody>
      <dsp:txXfrm>
        <a:off x="1434415" y="3081593"/>
        <a:ext cx="5737660" cy="968466"/>
      </dsp:txXfrm>
    </dsp:sp>
    <dsp:sp modelId="{CDEC5814-6C6F-470E-AD59-959801C1A5C0}">
      <dsp:nvSpPr>
        <dsp:cNvPr id="0" name=""/>
        <dsp:cNvSpPr/>
      </dsp:nvSpPr>
      <dsp:spPr>
        <a:xfrm>
          <a:off x="0" y="3083463"/>
          <a:ext cx="1434415" cy="96846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Display</a:t>
          </a:r>
        </a:p>
      </dsp:txBody>
      <dsp:txXfrm>
        <a:off x="0" y="3083463"/>
        <a:ext cx="1434415" cy="968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D521-419F-E36C-5035-B1AF4334B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E0FC4-F0D8-8BE0-381F-C18D79029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C41A2-4D9D-89F0-F35F-C73A86C5D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AF125-D055-482D-F8CF-D633A61B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99A74-F7B2-12FE-9114-39AF8E71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92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5F53-5CAB-ECC2-46AB-2DEADEC3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729F-0566-1CD0-9E3E-47A2FECEE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CC83B-EA74-3191-8293-6264AC210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26DF9-9C27-E4C3-2912-0B560AEB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EBD03-00B4-A9A1-60EE-CB6284F9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19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FE96-6E31-7368-6B43-D80B7E4FD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0AFA5-37E4-4C58-5398-4FC8FF192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6B0F-0A30-3D46-4734-26F379AA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2AA28-967D-02E8-D4C7-F37672FA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C783B-1EF8-C985-B1D4-C0DE97A8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89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C736-994F-4500-6407-779AD295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C5FE-4DE0-DA8A-C5B1-32998CC95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EB0E9-AEEC-F757-38AB-936329F79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62025-1B92-6844-A870-E20AE083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26E51-BED5-C04E-8279-196B8F569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4D618-26EC-BA18-410B-D450700F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7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5C93-9E63-23F8-1563-D95142ED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03221-6A3D-3ABD-4492-F3383C0E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64387-89B3-F842-280E-27458E2BE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5951B-9B1D-7B27-61F5-807C81ECF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918CC-F243-219D-E285-1302D45E6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8B570C-C185-F1E7-11A7-D8C179C4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E12A4-AEE8-9D66-9FC0-6C675530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A428E-2A09-EB1E-C7A0-8BAEBBA8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01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ABB9-D8ED-8F9B-F8CF-BE9DBA1B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3F626-1490-745E-7F51-4CE6F07A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F13F3-54DE-0C23-3378-62050B0E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280CD-33B7-BEB9-4C01-B4D93733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74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C1B73-4B09-B2FA-4C54-86A6C724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B1DEE7-B14C-AD80-4473-1614DED3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33D3F-7DFB-AF6C-A5E3-47AFFF95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47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3DC-B803-1029-05C0-D4B36433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44525-61CA-75B3-9B22-EFE486536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998FD-3B73-75F7-1DD2-BB576E77E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CC4BB-5363-B678-2AF5-E5891025B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F503A-13E4-668D-5BA6-B0747FA7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9080E-6AB7-DC5C-9EF7-1E099349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67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5706-3340-1577-CF87-887DA65B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CBC15-0127-FF8B-A1E3-6DF7264EA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6342C-773B-C244-AC6A-96F2C2D00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9EAD4-B5C2-7450-0E0A-183DDC44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0E137-FD9D-F283-29F7-E6314585F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CDEBD-424B-B8BE-2011-AF2D6489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58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45C5-EDE4-C17C-7879-12CAD7E0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8AC6D-F0F2-5F3C-7E9F-EDBD141C7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9068-4C35-5FDE-5C51-0B84D71C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14E9A-0ABC-320E-7776-0CEF80D5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45DD6-BB5C-F7EA-0AEF-998C7EBF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03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04AD5-8123-5042-0A62-2EE76FC5B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05F0C-4C29-A217-75E1-78102AD83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E5C8F-FCBB-68B9-92C3-8CB234DF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083B4-7781-CFED-733C-C52D6DBA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08C9-D5D5-DB84-1753-CE776F77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32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FB5B3-B279-68AC-7565-7A346602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C4111-A1A3-53BF-1E25-9011CC147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09699-61E6-A29C-F3F8-5DFDF52C9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7FDAF-8C16-4D0C-86C2-2EA2AEE90EA2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20F8F-551C-5575-C5A6-EDFDE436B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1327B-4A3A-2D1C-0E75-28A22D34A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91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1-1050/13/21/11855?utm_source=chatgpt.com" TargetMode="External"/><Relationship Id="rId2" Type="http://schemas.openxmlformats.org/officeDocument/2006/relationships/hyperlink" Target="https://www.ncbi.nlm.nih.gov/pmc/articles/PMC742017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streamlit.io/" TargetMode="External"/><Relationship Id="rId5" Type="http://schemas.openxmlformats.org/officeDocument/2006/relationships/hyperlink" Target="https://thingspeak.com/docs" TargetMode="External"/><Relationship Id="rId4" Type="http://schemas.openxmlformats.org/officeDocument/2006/relationships/hyperlink" Target="https://www.neptronic.com/ims/iaq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F16A-8EE9-CC1A-1E8B-E9F78762E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340" y="174114"/>
            <a:ext cx="11861787" cy="2387600"/>
          </a:xfrm>
        </p:spPr>
        <p:txBody>
          <a:bodyPr anchor="t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Sant Dnyaneshwar </a:t>
            </a:r>
            <a:r>
              <a:rPr lang="en-US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Shikshan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Sanstha's</a:t>
            </a:r>
            <a:br>
              <a:rPr lang="en-IN" sz="4000" b="1" i="1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Annasaheb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Dange College of Engineering and Technology (ADCET), Ashta</a:t>
            </a:r>
            <a:b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(An Empowered Autonomous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lnstitute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affiliated to Shivaji University</a:t>
            </a: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Kolhapur)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60714-6546-8627-1663-9B2F692BC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02751"/>
            <a:ext cx="9144000" cy="18542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Civil Engineering</a:t>
            </a:r>
          </a:p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2025-26</a:t>
            </a:r>
          </a:p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Synopsis Presentation</a:t>
            </a: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AirShield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IoT-Enabled Indoor Air Quality Monitoring and Alert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B1032D-2DAE-238D-50A5-AD93376FD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09" y="1201451"/>
            <a:ext cx="1476375" cy="15354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C186E1-E079-9953-6E18-57E4BD1EA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239284"/>
              </p:ext>
            </p:extLst>
          </p:nvPr>
        </p:nvGraphicFramePr>
        <p:xfrm>
          <a:off x="3111495" y="4820542"/>
          <a:ext cx="5969001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9667">
                  <a:extLst>
                    <a:ext uri="{9D8B030D-6E8A-4147-A177-3AD203B41FA5}">
                      <a16:colId xmlns:a16="http://schemas.microsoft.com/office/drawing/2014/main" val="3801005646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2150174341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81738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Members: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URN: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84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Sumit Parihar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23031138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24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Barsha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23031139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27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Akshita Jha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23101051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55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Pranav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Bhale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23011075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575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47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861148" y="5318162"/>
            <a:ext cx="7245971" cy="92722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3" name="Picture 15">
            <a:extLst>
              <a:ext uri="{FF2B5EF4-FFF2-40B4-BE49-F238E27FC236}">
                <a16:creationId xmlns:a16="http://schemas.microsoft.com/office/drawing/2014/main" id="{49266CEE-DBD9-CDEB-C8B5-63D0D23A3D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84"/>
          <a:stretch>
            <a:fillRect/>
          </a:stretch>
        </p:blipFill>
        <p:spPr bwMode="auto">
          <a:xfrm>
            <a:off x="4779502" y="4688595"/>
            <a:ext cx="7412498" cy="154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372744" y="1200488"/>
            <a:ext cx="4728799" cy="322595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5" name="Picture 7">
            <a:extLst>
              <a:ext uri="{FF2B5EF4-FFF2-40B4-BE49-F238E27FC236}">
                <a16:creationId xmlns:a16="http://schemas.microsoft.com/office/drawing/2014/main" id="{DBE1C980-1633-0307-D578-FBFF624E5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4"/>
          <a:stretch>
            <a:fillRect/>
          </a:stretch>
        </p:blipFill>
        <p:spPr bwMode="auto">
          <a:xfrm>
            <a:off x="138897" y="670263"/>
            <a:ext cx="5324299" cy="385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A541BD1-51CD-9B7B-1F8F-0A2727E6B125}"/>
              </a:ext>
            </a:extLst>
          </p:cNvPr>
          <p:cNvSpPr/>
          <p:nvPr/>
        </p:nvSpPr>
        <p:spPr>
          <a:xfrm>
            <a:off x="5183188" y="1146894"/>
            <a:ext cx="6169024" cy="3567642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2DD4932-E0B2-C86E-DB6B-7AEAB6036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6893"/>
            <a:ext cx="6172200" cy="3567642"/>
          </a:xfrm>
        </p:spPr>
        <p:txBody>
          <a:bodyPr>
            <a:no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AirShield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IoT-based system for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indoor air quality monitoring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CO₂, VOCs, PM2.5, temperature, and humidity.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alerts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(LED, buzzer, SMS/Telegram).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data on an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awareness.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 of Solution: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accessible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classrooms, hostels, and offices.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with simple predictive/alerting capability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 + cloud dashboard + alert system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compact solution.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comfort/health indicator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(green/yellow/red) — not just raw values.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54D82C-D2A0-4A3F-717C-ADDED276DF41}"/>
              </a:ext>
            </a:extLst>
          </p:cNvPr>
          <p:cNvSpPr/>
          <p:nvPr/>
        </p:nvSpPr>
        <p:spPr>
          <a:xfrm>
            <a:off x="839788" y="4506176"/>
            <a:ext cx="3932237" cy="2120430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F4256-C67B-85A4-4399-58A187CB3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51345"/>
            <a:ext cx="3932237" cy="4881563"/>
          </a:xfrm>
        </p:spPr>
        <p:txBody>
          <a:bodyPr anchor="b">
            <a:norm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air pollution often goes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unnoticed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Causes: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buildup,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VOCs, PM2.5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humidity fluctuations, poor ventilation.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Effects: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headaches, fatigue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reduced productivity, respiratory issues.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often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expensive, reactive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limited to commercial settings.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656CD-F666-B535-1C5E-4F984A1F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0225"/>
          </a:xfrm>
        </p:spPr>
        <p:txBody>
          <a:bodyPr anchor="t"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25130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2892-0217-32F8-E084-CCACEB7E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ACA23D-10C8-50CE-1486-9DBF7734AE76}"/>
              </a:ext>
            </a:extLst>
          </p:cNvPr>
          <p:cNvSpPr/>
          <p:nvPr/>
        </p:nvSpPr>
        <p:spPr>
          <a:xfrm>
            <a:off x="-241139" y="701182"/>
            <a:ext cx="12674278" cy="65344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79700E-4884-F248-9E8D-5B9B8B6B8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78852"/>
              </p:ext>
            </p:extLst>
          </p:nvPr>
        </p:nvGraphicFramePr>
        <p:xfrm>
          <a:off x="838200" y="1825626"/>
          <a:ext cx="10515600" cy="4395192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628924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907818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370092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36054793"/>
                    </a:ext>
                  </a:extLst>
                </a:gridCol>
              </a:tblGrid>
              <a:tr h="2590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Author: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Year: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Findings: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366280998"/>
                  </a:ext>
                </a:extLst>
              </a:tr>
              <a:tr h="109793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and statistical models for predicting indoor air quality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Wenjuan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Wei et al.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ML/statistical models (ARIMA, LSTM) for indoor air prediction; highlights potential of forecasting but lacks real-time low-cost deployment.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52335835"/>
                  </a:ext>
                </a:extLst>
              </a:tr>
              <a:tr h="9482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Indoor Air Quality Monitoring: Sensors and Applications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Sharma &amp; P. Kumar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Discusses various low-cost sensors (CO₂, PM2.5, VOCs); shows need for affordable solutions for classrooms and offices.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1820941534"/>
                  </a:ext>
                </a:extLst>
              </a:tr>
              <a:tr h="109793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 for Indoor Air Quality Estimation and Forecasting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IndoAirSense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Team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ML-based prediction for classrooms; limited to controlled environments, expensive sensors, no real-time alerts for small rooms.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494713946"/>
                  </a:ext>
                </a:extLst>
              </a:tr>
              <a:tr h="9482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Indoor Air Quality Solutions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Neptronic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Documentation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 solutions provide dashboards and alerts; mostly reactive, high-cost, not designed for small-scale deployment.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14335602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67AD4D4-948F-7B18-17F2-C3BBFB6B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831952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81DF1E-665B-4F32-26AA-BFA03E723C5C}"/>
              </a:ext>
            </a:extLst>
          </p:cNvPr>
          <p:cNvSpPr/>
          <p:nvPr/>
        </p:nvSpPr>
        <p:spPr>
          <a:xfrm>
            <a:off x="839788" y="2106592"/>
            <a:ext cx="4114177" cy="29283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40350D-35D0-FD8A-51FD-5BA36FC74A5F}"/>
              </a:ext>
            </a:extLst>
          </p:cNvPr>
          <p:cNvSpPr/>
          <p:nvPr/>
        </p:nvSpPr>
        <p:spPr>
          <a:xfrm>
            <a:off x="7239622" y="2106592"/>
            <a:ext cx="4114177" cy="29283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59FEF-0C9F-BEA1-6205-EAC4F32F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SCOPE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AA26F-010E-4BCB-CE5D-3F2486A4C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48505"/>
            <a:ext cx="5157787" cy="82391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BC19E-54A5-7F99-CC6F-312641314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439759"/>
            <a:ext cx="4114177" cy="3684588"/>
          </a:xfrm>
        </p:spPr>
        <p:txBody>
          <a:bodyPr>
            <a:norm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air quality in educational spaces often deteriorates unnoticed, yet it strongly influences student health, concentration, and academic performance.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ventilation causes a buildup of CO₂, PM2.5, and VOCs — leading to fatigue, headaches, and respiratory issues.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expensive, reactive, and not suited for small indoor spaces.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low-cost, smart system that monitors and predicts air quality in real time.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FCBD4-F19E-98E3-2C6E-F8CEA3BCB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38036" y="1648505"/>
            <a:ext cx="4117352" cy="82391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B013E9-BF76-667D-AB08-9711D2330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38036" y="2439759"/>
            <a:ext cx="4117351" cy="3684588"/>
          </a:xfrm>
        </p:spPr>
        <p:txBody>
          <a:bodyPr>
            <a:norm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solely on indoor air quality monitoring for environments like classrooms, hostels, and offices</a:t>
            </a:r>
            <a:r>
              <a:rPr lang="en-US" sz="1400" dirty="0"/>
              <a:t>.</a:t>
            </a:r>
            <a:endParaRPr lang="en-IN" sz="1400" dirty="0"/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low-cost sensors and microcontrollers (ESP32/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collect and transmit environmental data.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(e.g.,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/Firebase) are used for data storage and retrieval.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user-friendly dashboard and alert system but does not control hardware like purifiers or HVAC systems</a:t>
            </a:r>
          </a:p>
        </p:txBody>
      </p:sp>
      <p:pic>
        <p:nvPicPr>
          <p:cNvPr id="8" name="Picture 7" descr="A magnifying glass over a house&#10;&#10;AI-generated content may be incorrect.">
            <a:extLst>
              <a:ext uri="{FF2B5EF4-FFF2-40B4-BE49-F238E27FC236}">
                <a16:creationId xmlns:a16="http://schemas.microsoft.com/office/drawing/2014/main" id="{55BFA337-76C6-2E60-0FA7-770C22C72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71" y="3821113"/>
            <a:ext cx="4509858" cy="3334875"/>
          </a:xfrm>
          <a:prstGeom prst="rect">
            <a:avLst/>
          </a:prstGeo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38A3442-7BDE-542D-13D7-4E32503D4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337" y="2363788"/>
            <a:ext cx="1457325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12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94E3-7874-D221-5723-E94724F9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4465" y="1141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0A79E6-15EA-084A-C433-DF5C12277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0598327"/>
              </p:ext>
            </p:extLst>
          </p:nvPr>
        </p:nvGraphicFramePr>
        <p:xfrm>
          <a:off x="4854465" y="1794406"/>
          <a:ext cx="7172075" cy="4051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53" name="Picture 9">
            <a:extLst>
              <a:ext uri="{FF2B5EF4-FFF2-40B4-BE49-F238E27FC236}">
                <a16:creationId xmlns:a16="http://schemas.microsoft.com/office/drawing/2014/main" id="{9443822E-50DB-17A8-0779-C1EC891CA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2062"/>
          <a:stretch>
            <a:fillRect/>
          </a:stretch>
        </p:blipFill>
        <p:spPr bwMode="auto">
          <a:xfrm>
            <a:off x="-352848" y="1047116"/>
            <a:ext cx="5560160" cy="476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013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85D5-6398-B4E1-D6FF-5808F17E2057}"/>
              </a:ext>
            </a:extLst>
          </p:cNvPr>
          <p:cNvSpPr txBox="1">
            <a:spLocks/>
          </p:cNvSpPr>
          <p:nvPr/>
        </p:nvSpPr>
        <p:spPr>
          <a:xfrm>
            <a:off x="3399319" y="365125"/>
            <a:ext cx="5393361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001CA5F-2345-DA50-4D35-48705DA86B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70" b="5278"/>
          <a:stretch>
            <a:fillRect/>
          </a:stretch>
        </p:blipFill>
        <p:spPr bwMode="auto">
          <a:xfrm>
            <a:off x="2157996" y="917642"/>
            <a:ext cx="7876008" cy="594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780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C62CD-914A-9396-149E-FE67F381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0D182-8E12-DA5D-DA08-07B57F23E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Wenjuan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 et al., “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statistical models for predicting indoor air quality,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https://www.ncbi.nlm.nih.gov/pmc/articles/PMC7420173/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Sharma &amp; P. Kumar,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Air Quality Monitoring: Sensors and Applications,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IndoAirSense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Indoor Air Quality Estimation and Forecasting,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https://www.mdpi.com/2071-1050/13/21/11855?utm_source=chatgpt.com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Neptronic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Documentation,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Air Quality Solutions,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2022.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https://www.neptronic.com/ims/iaq/index.html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Quality Guidelines,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Documentation: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https://thingspeak.com/docs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https://docs.streamlit.io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65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774</Words>
  <Application>Microsoft Office PowerPoint</Application>
  <PresentationFormat>Widescreen</PresentationFormat>
  <Paragraphs>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Sant Dnyaneshwar Shikshan Sanstha's Annasaheb Dange College of Engineering and Technology (ADCET), Ashta (An Empowered Autonomous lnstitute affiliated to Shivaji University, Kolhapur)</vt:lpstr>
      <vt:lpstr>INTRODUCTION</vt:lpstr>
      <vt:lpstr>LITERATURE REVIEW</vt:lpstr>
      <vt:lpstr>PROBLEM STATEMENT AND SCOPE OF THE PROJECT</vt:lpstr>
      <vt:lpstr>OBJECTIVES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Akshii .</dc:creator>
  <cp:lastModifiedBy>Akshii .</cp:lastModifiedBy>
  <cp:revision>1</cp:revision>
  <dcterms:created xsi:type="dcterms:W3CDTF">2025-10-07T18:50:19Z</dcterms:created>
  <dcterms:modified xsi:type="dcterms:W3CDTF">2025-12-03T06:19:47Z</dcterms:modified>
</cp:coreProperties>
</file>